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 Strategic Growth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Aptos"/>
              </a:rPr>
              <a:t>Driving Market Leadership &amp;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2. Retention</a:t>
            </a:r>
          </a:p>
          <a:p>
            <a:pPr/>
          </a:p>
          <a:p>
            <a:pPr lvl="1"/>
            <a:r>
              <a:rPr>
                <a:latin typeface="Aptos"/>
              </a:rPr>
              <a:t>Enhancing product stability to reduce churn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3. Innovation</a:t>
            </a:r>
          </a:p>
          <a:p>
            <a:pPr/>
          </a:p>
          <a:p>
            <a:pPr lvl="1"/>
            <a:r>
              <a:rPr>
                <a:latin typeface="Aptos"/>
              </a:rPr>
              <a:t>Launching the new module by March
</a:t>
            </a:r>
            <a:r>
              <a:rPr b="1">
                <a:latin typeface="Aptos"/>
              </a:rPr>
              <a:t>Q1 Vision:</a:t>
            </a:r>
            <a:r>
              <a:rPr>
                <a:latin typeface="Aptos"/>
              </a:rPr>
              <a:t> Solidify market position by expanding into Tier 1 cities with a revenue target of 15% YoY increase.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Scale</a:t>
            </a:r>
          </a:p>
          <a:p>
            <a:pPr/>
          </a:p>
          <a:p>
            <a:pPr lvl="1"/>
            <a:r>
              <a:rPr>
                <a:latin typeface="Aptos"/>
              </a:rPr>
              <a:t>Increasing customer acquisition through automated funnels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Key Results (OKRs)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11734495" cy="10515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954446"/>
                <a:gridCol w="7434714"/>
                <a:gridCol w="2345335"/>
              </a:tblGrid>
              <a:tr h="32004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Objective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Key Result (KRs)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Aptos"/>
                        </a:rPr>
                        <a:t>Target Date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Acquire 5,000 new premium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Mar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Reduce page load time by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Feb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Lower Customer Acquisition Cost (CAC) by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Mar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Talent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Complete hiring for 5 key engineering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ptos"/>
                        </a:rPr>
                        <a:t>Feb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2. February</a:t>
            </a:r>
          </a:p>
          <a:p>
            <a:pPr/>
          </a:p>
          <a:p>
            <a:pPr/>
            <a:r>
              <a:rPr>
                <a:latin typeface="Aptos"/>
              </a:rPr>
              <a:t>Execution &amp; Launch</a:t>
            </a:r>
          </a:p>
          <a:p>
            <a:pPr lvl="1"/>
            <a:r>
              <a:rPr>
                <a:latin typeface="Aptos"/>
              </a:rPr>
              <a:t>"Spring Peak" marketing campaign</a:t>
            </a:r>
          </a:p>
          <a:p>
            <a:pPr lvl="1"/>
          </a:p>
          <a:p>
            <a:pPr lvl="1"/>
            <a:r>
              <a:rPr>
                <a:latin typeface="Aptos"/>
              </a:rPr>
              <a:t>Beta testing for V2.0 updates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3. March</a:t>
            </a:r>
          </a:p>
          <a:p>
            <a:pPr/>
          </a:p>
          <a:p>
            <a:pPr/>
            <a:r>
              <a:rPr>
                <a:latin typeface="Aptos"/>
              </a:rPr>
              <a:t>Optimization &amp; Scaling</a:t>
            </a:r>
          </a:p>
          <a:p>
            <a:pPr lvl="1"/>
            <a:r>
              <a:rPr>
                <a:latin typeface="Aptos"/>
              </a:rPr>
              <a:t>Full public release of new features</a:t>
            </a:r>
          </a:p>
          <a:p>
            <a:pPr lvl="1"/>
          </a:p>
          <a:p>
            <a:pPr lvl="1"/>
            <a:r>
              <a:rPr>
                <a:latin typeface="Aptos"/>
              </a:rPr>
              <a:t>Q1 data review for Q2 pivots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January</a:t>
            </a:r>
          </a:p>
          <a:p>
            <a:pPr/>
          </a:p>
          <a:p>
            <a:pPr/>
            <a:r>
              <a:rPr>
                <a:latin typeface="Aptos"/>
              </a:rPr>
              <a:t>Foundation &amp; Alignment</a:t>
            </a:r>
          </a:p>
          <a:p>
            <a:pPr lvl="1"/>
            <a:r>
              <a:rPr>
                <a:latin typeface="Aptos"/>
              </a:rPr>
              <a:t>Budget approvals and KPI setting</a:t>
            </a:r>
          </a:p>
          <a:p>
            <a:pPr lvl="1"/>
          </a:p>
          <a:p>
            <a:pPr lvl="1"/>
            <a:r>
              <a:rPr>
                <a:latin typeface="Aptos"/>
              </a:rPr>
              <a:t>Audit of Q4 performance gaps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Tactical Roadmap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Needs &amp; Risk Mitigation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Budget Allocation</a:t>
            </a:r>
          </a:p>
          <a:p>
            <a:pPr/>
          </a:p>
          <a:p>
            <a:pPr lvl="1"/>
            <a:r>
              <a:rPr>
                <a:latin typeface="Aptos"/>
              </a:rPr>
              <a:t>Marketing &amp; Growth: 50%</a:t>
            </a:r>
          </a:p>
          <a:p>
            <a:pPr lvl="1"/>
          </a:p>
          <a:p>
            <a:pPr lvl="1"/>
            <a:r>
              <a:rPr>
                <a:latin typeface="Aptos"/>
              </a:rPr>
              <a:t>Product Development: 30%</a:t>
            </a:r>
          </a:p>
          <a:p>
            <a:pPr lvl="1"/>
          </a:p>
          <a:p>
            <a:pPr lvl="1"/>
            <a:r>
              <a:rPr>
                <a:latin typeface="Aptos"/>
              </a:rPr>
              <a:t>Operations/Overhead: 20%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2. Risk Mitigation</a:t>
            </a:r>
          </a:p>
          <a:p>
            <a:pPr/>
          </a:p>
          <a:p>
            <a:pPr lvl="1"/>
            <a:r>
              <a:rPr>
                <a:latin typeface="Aptos"/>
              </a:rPr>
              <a:t>Supply Chain: Potential hardware delays</a:t>
            </a:r>
          </a:p>
          <a:p>
            <a:pPr lvl="1"/>
          </a:p>
          <a:p>
            <a:pPr lvl="1"/>
            <a:r>
              <a:rPr>
                <a:latin typeface="Aptos"/>
              </a:rPr>
              <a:t>Mitigation: 15% safety stock pre-ordered</a:t>
            </a:r>
          </a:p>
          <a:p>
            <a:pPr lvl="1"/>
          </a:p>
          <a:p>
            <a:pPr lvl="1"/>
            <a:r>
              <a:rPr>
                <a:latin typeface="Aptos"/>
              </a:rPr>
              <a:t>Next: Final sign-off on Q1 Marketing budget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